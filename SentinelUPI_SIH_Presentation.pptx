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Hero: SentinelUPI is a reusable security SDK + backend risk engine for the UPI ecosystem. It does not replace UPI, NPCI, banks, PSPs, or the UPI PIN. Sources: NPCI UPI Product Statistics https://www.npci.org.in/product/upi/product-statistics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Six-member cross-functional team. Names and photos are placeholders [MEMBER n] / [PHOTO].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NPCI UPI Product Statistics https://www.npci.org.in/product/upi/product-statistics ; PIB Digital Payments Growth https://www.pib.gov.in/PressReleasePage.aspx?PRID=2240723 ; RBI Annual Report 2024-25 https://www.rbi.org.in/scripts/AnnualReportPublications.aspx?Id=1436 . Figures are scale indicators; verify latest values from cited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SentinelUPI introduces pre-authorization behavioral risk assessment. It does not claim to guarantee scam or coercion detection; it surfaces contextual risk signals for adaptive/step-up authentication. Aligned with Digital India, secure digital payments, and privacy-by-design principles. PIB: https://www.pib.gov.in/PressReleasePage.aspx?PRID=2240723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SentinelUPI SDK wraps the existing UPI app as a security layer. Six capabilities: continuous behavioral authentication, device integrity verification, AI risk engine, Android Keystore + Play Integrity, privacy-by-design, and explainable risk score. References: Android Keystore https://developer.android.com/privacy-and-security/keystore ; Google Play Integrity https://developer.android.com/google/play/integrity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emphasizes reusable, pre-authorization, adaptive risk assessment. SentinelUPI is a B2B security capability consumed by banks/PSPs/fintechs — not a competing UPI app and not a replacement for UPI PIN or NPCI.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Mobile: Android/Kotlin. AI: TensorFlow Lite for on-device inference. Backend: Go/Rust. Database: PostgreSQL/Redis. Security: Android Keystore, Google Play Integrity, TLS 1.3, ECDSA. Infra: Docker/Kubernetes. Design goal: on-device inference with low latency so UPI flow is unaffected. Android Keystore https://developer.android.com/privacy-and-security/keystore ; Play Integrity https://developer.android.com/google/play/integrity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flow: User -&gt; Sentinel SDK (analyzes touch, interaction, screen-sharing, root/integrity) -&gt; Behavior Engine (TensorFlow Lite on-device) -&gt; Risk Engine (backend API generates risk score) -&gt; PSP/Bank (approve/step-up/block) -&gt; UPI Switch (NPCI ecosystem). On-device zone is privacy-first local inference; backend zone is secure infrastructure. Does not replace UPI PIN or NPCI rails. OWASP Mobile Top 10 https://owasp.org/www-project-mobile-top-10/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B2B SaaS model: customers are banks, PSPs, and fintech companies; revenue from SDK licensing, annual enterprise support, and security analytics. Roadmap: SIH prototype -&gt; security validation -&gt; regulatory review -&gt; pilot launch -&gt;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/ Q&amp;A. SentinelUPI provides behavioral risk assessment, contextual risk signals, device integrity, adaptive/step-up authentication, pre-authorization risk evaluation, and an explainable risk score. It does not guarantee fraud/scam prevention, claim to read intent/coercion, or replace UPI PIN, NPCI, banks, or PSPs. References listed 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-1828800"/>
            <a:ext cx="5486400" cy="5486400"/>
          </a:xfrm>
          <a:prstGeom prst="ellipse">
            <a:avLst/>
          </a:prstGeom>
          <a:solidFill>
            <a:srgbClr val="19B5F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38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86600" y="1325880"/>
            <a:ext cx="4572000" cy="4572000"/>
          </a:xfrm>
          <a:prstGeom prst="ellipse">
            <a:avLst/>
          </a:prstGeom>
          <a:noFill/>
          <a:ln w="15875">
            <a:solidFill>
              <a:srgbClr val="19B5F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79" y="1737360"/>
            <a:ext cx="3749039" cy="3749039"/>
          </a:xfrm>
          <a:prstGeom prst="ellipse">
            <a:avLst/>
          </a:prstGeom>
          <a:noFill/>
          <a:ln w="952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56729" y="4329730"/>
            <a:ext cx="128016" cy="128016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0231854" y="3924623"/>
            <a:ext cx="1288883" cy="469115"/>
          </a:xfrm>
          <a:prstGeom prst="line">
            <a:avLst/>
          </a:prstGeom>
          <a:ln w="9525">
            <a:solidFill>
              <a:srgbClr val="38D9F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526733" y="5696009"/>
            <a:ext cx="128016" cy="128016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8590741" y="4471134"/>
            <a:ext cx="469115" cy="1288883"/>
          </a:xfrm>
          <a:prstGeom prst="line">
            <a:avLst/>
          </a:prstGeom>
          <a:ln w="9525">
            <a:solidFill>
              <a:srgbClr val="19B5FE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236772" y="2581766"/>
            <a:ext cx="128016" cy="128016"/>
          </a:xfrm>
          <a:prstGeom prst="ellipse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300780" y="2645774"/>
            <a:ext cx="1243092" cy="579663"/>
          </a:xfrm>
          <a:prstGeom prst="line">
            <a:avLst/>
          </a:prstGeom>
          <a:ln w="9525">
            <a:solidFill>
              <a:srgbClr val="27D17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274697" y="1476052"/>
            <a:ext cx="128016" cy="128016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9759042" y="1540060"/>
            <a:ext cx="579663" cy="1243092"/>
          </a:xfrm>
          <a:prstGeom prst="line">
            <a:avLst/>
          </a:prstGeom>
          <a:ln w="9525">
            <a:solidFill>
              <a:srgbClr val="38D9F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380411" y="2581766"/>
            <a:ext cx="128016" cy="128016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10201327" y="2645774"/>
            <a:ext cx="1243092" cy="579663"/>
          </a:xfrm>
          <a:prstGeom prst="line">
            <a:avLst/>
          </a:prstGeom>
          <a:ln w="9525">
            <a:solidFill>
              <a:srgbClr val="19B5FE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236772" y="4513977"/>
            <a:ext cx="128016" cy="128016"/>
          </a:xfrm>
          <a:prstGeom prst="ellipse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7300780" y="3998322"/>
            <a:ext cx="1243092" cy="579663"/>
          </a:xfrm>
          <a:prstGeom prst="line">
            <a:avLst/>
          </a:prstGeom>
          <a:ln w="9525">
            <a:solidFill>
              <a:srgbClr val="FFB84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1417320"/>
            <a:ext cx="1691640" cy="365760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22225">
            <a:solidFill>
              <a:srgbClr val="38D9FF"/>
            </a:solidFill>
          </a:ln>
          <a:effectLst/>
          <a:effectLst>
            <a:outerShdw blurRad="90000" dist="40000" dir="5400000" rotWithShape="0">
              <a:srgbClr val="19B5F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2852" y="1508760"/>
            <a:ext cx="585216" cy="146304"/>
          </a:xfrm>
          <a:prstGeom prst="round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14232" y="1801368"/>
            <a:ext cx="1362456" cy="3108960"/>
          </a:xfrm>
          <a:prstGeom prst="round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59" y="1892807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9:41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7" y="1892807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5G  ▮▮▮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59" y="2167128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59" y="2350008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Pay to merchant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59" y="258775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15400" y="2734056"/>
            <a:ext cx="274320" cy="274320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2688336"/>
            <a:ext cx="722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Coffee 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2852928"/>
            <a:ext cx="722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merchant@upi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227832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₹ 250.00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59" y="3584448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E2A22"/>
          </a:solidFill>
          <a:ln w="9525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59" y="3648456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◉  Risk Score 12 — 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59" y="4087368"/>
            <a:ext cx="1143000" cy="384048"/>
          </a:xfrm>
          <a:prstGeom prst="roundRect">
            <a:avLst>
              <a:gd name="adj" fmla="val 20000"/>
            </a:avLst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59" y="4169663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AUTHENTICATE &amp; PAY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59" y="4590288"/>
            <a:ext cx="335280" cy="384048"/>
          </a:xfrm>
          <a:prstGeom prst="roundRect">
            <a:avLst>
              <a:gd name="adj" fmla="val 15000"/>
            </a:avLst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59" y="4709160"/>
            <a:ext cx="335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Touch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04959" y="4590288"/>
            <a:ext cx="335280" cy="384048"/>
          </a:xfrm>
          <a:prstGeom prst="roundRect">
            <a:avLst>
              <a:gd name="adj" fmla="val 15000"/>
            </a:avLst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4959" y="4709160"/>
            <a:ext cx="335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Gait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5960" y="4590288"/>
            <a:ext cx="335280" cy="384048"/>
          </a:xfrm>
          <a:prstGeom prst="roundRect">
            <a:avLst>
              <a:gd name="adj" fmla="val 15000"/>
            </a:avLst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85960" y="4709160"/>
            <a:ext cx="335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Device</a:t>
            </a:r>
          </a:p>
        </p:txBody>
      </p:sp>
      <p:sp>
        <p:nvSpPr>
          <p:cNvPr id="42" name="Freeform 41"/>
          <p:cNvSpPr/>
          <p:nvPr/>
        </p:nvSpPr>
        <p:spPr>
          <a:xfrm>
            <a:off x="7360920" y="4160520"/>
            <a:ext cx="1234440" cy="1417320"/>
          </a:xfrm>
          <a:custGeom>
            <a:avLst/>
            <a:gdLst/>
            <a:ahLst/>
            <a:cxnLst/>
            <a:rect l="l" t="t" r="r" b="b"/>
            <a:pathLst>
              <a:path w="1234440" h="1417320">
                <a:moveTo>
                  <a:pt x="617220" y="0"/>
                </a:moveTo>
                <a:lnTo>
                  <a:pt x="1234440" y="255117"/>
                </a:lnTo>
                <a:lnTo>
                  <a:pt x="1234440" y="779526"/>
                </a:lnTo>
                <a:lnTo>
                  <a:pt x="617220" y="1417320"/>
                </a:lnTo>
                <a:lnTo>
                  <a:pt x="0" y="779526"/>
                </a:lnTo>
                <a:lnTo>
                  <a:pt x="0" y="255117"/>
                </a:lnTo>
                <a:lnTo>
                  <a:pt x="617220" y="0"/>
                </a:lnTo>
                <a:close/>
              </a:path>
            </a:pathLst>
          </a:custGeom>
          <a:solidFill>
            <a:srgbClr val="0A2033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526280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🛡</a:t>
            </a:r>
          </a:p>
        </p:txBody>
      </p:sp>
      <p:sp>
        <p:nvSpPr>
          <p:cNvPr id="44" name="Oval 43"/>
          <p:cNvSpPr/>
          <p:nvPr/>
        </p:nvSpPr>
        <p:spPr>
          <a:xfrm>
            <a:off x="10469880" y="1417320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652759" y="1691640"/>
            <a:ext cx="201168" cy="164592"/>
          </a:xfrm>
          <a:prstGeom prst="roundRect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lock Arc 45"/>
          <p:cNvSpPr/>
          <p:nvPr/>
        </p:nvSpPr>
        <p:spPr>
          <a:xfrm>
            <a:off x="10616184" y="1527048"/>
            <a:ext cx="274320" cy="274320"/>
          </a:xfrm>
          <a:prstGeom prst="blockArc">
            <a:avLst/>
          </a:prstGeom>
          <a:noFill/>
          <a:ln w="28575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1325880"/>
            <a:ext cx="91440" cy="502920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128016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38D9FF"/>
                </a:solidFill>
                <a:latin typeface="Inter"/>
                <a:ea typeface="Inter"/>
                <a:cs typeface="Inter"/>
              </a:rPr>
              <a:t>SMART INDIA HACKATHON  •  SECURITY LAYER FOR UPI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" y="169164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Sentinel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" y="2395728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UPI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338328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AI-Powered Continuous Behavioral Authentication for UPI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406908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A reusable Android security SDK and backend risk engine that evaluates behavioral and device-integrity risk before a UPI payment is authorized.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4892040"/>
            <a:ext cx="13258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974336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Behavioral Auth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13432" y="4892040"/>
            <a:ext cx="140086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13432" y="4974336"/>
            <a:ext cx="14008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9B5FE"/>
                </a:solidFill>
                <a:latin typeface="Inter"/>
                <a:ea typeface="Inter"/>
                <a:cs typeface="Inter"/>
              </a:rPr>
              <a:t>Device Integrity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78884" y="4892040"/>
            <a:ext cx="117591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78884" y="4974336"/>
            <a:ext cx="117591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Pre-Auth Risk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19395" y="4892040"/>
            <a:ext cx="1475841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19395" y="4974336"/>
            <a:ext cx="147584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B84D"/>
                </a:solidFill>
                <a:latin typeface="Inter"/>
                <a:ea typeface="Inter"/>
                <a:cs typeface="Inter"/>
              </a:rPr>
              <a:t>Privacy-by-Design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B3C2"/>
                </a:solidFill>
                <a:latin typeface="Inter"/>
                <a:ea typeface="Inter"/>
                <a:cs typeface="Inter"/>
              </a:rPr>
              <a:t>TEAM  </a:t>
            </a:r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[TEAM NAME]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55080"/>
            <a:ext cx="1143000" cy="36576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437376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[COLLEGE LOGO]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78440" y="6355080"/>
            <a:ext cx="1143000" cy="36576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78440" y="6437376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[SIH 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Team SentinelUPI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54864"/>
          </a:xfrm>
          <a:prstGeom prst="round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33372" y="1783080"/>
            <a:ext cx="1133856" cy="1133856"/>
          </a:xfrm>
          <a:prstGeom prst="ellipse">
            <a:avLst/>
          </a:prstGeom>
          <a:solidFill>
            <a:srgbClr val="10243A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372" y="213055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[PHOTO]</a:t>
            </a:r>
          </a:p>
        </p:txBody>
      </p:sp>
      <p:sp>
        <p:nvSpPr>
          <p:cNvPr id="10" name="Oval 9"/>
          <p:cNvSpPr/>
          <p:nvPr/>
        </p:nvSpPr>
        <p:spPr>
          <a:xfrm>
            <a:off x="3593591" y="1709928"/>
            <a:ext cx="420624" cy="420624"/>
          </a:xfrm>
          <a:prstGeom prst="ellipse">
            <a:avLst/>
          </a:prstGeom>
          <a:solidFill>
            <a:srgbClr val="07111F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1" y="180136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449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[MEMBER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3558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Backend &amp; AI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832" y="1417320"/>
            <a:ext cx="3520440" cy="54864"/>
          </a:xfrm>
          <a:prstGeom prst="round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64124" y="1783080"/>
            <a:ext cx="1133856" cy="1133856"/>
          </a:xfrm>
          <a:prstGeom prst="ellipse">
            <a:avLst/>
          </a:prstGeom>
          <a:solidFill>
            <a:srgbClr val="10243A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4124" y="213055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[PHOTO]</a:t>
            </a:r>
          </a:p>
        </p:txBody>
      </p:sp>
      <p:sp>
        <p:nvSpPr>
          <p:cNvPr id="18" name="Oval 17"/>
          <p:cNvSpPr/>
          <p:nvPr/>
        </p:nvSpPr>
        <p:spPr>
          <a:xfrm>
            <a:off x="7324344" y="1709928"/>
            <a:ext cx="420624" cy="420624"/>
          </a:xfrm>
          <a:prstGeom prst="ellipse">
            <a:avLst/>
          </a:prstGeom>
          <a:solidFill>
            <a:srgbClr val="07111F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4344" y="180136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0449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[MEMBER 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3558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Android Developer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1583" y="1417320"/>
            <a:ext cx="3520440" cy="54864"/>
          </a:xfrm>
          <a:prstGeom prst="round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4876" y="1783080"/>
            <a:ext cx="1133856" cy="1133856"/>
          </a:xfrm>
          <a:prstGeom prst="ellipse">
            <a:avLst/>
          </a:prstGeom>
          <a:solidFill>
            <a:srgbClr val="10243A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4876" y="213055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[PHOTO]</a:t>
            </a:r>
          </a:p>
        </p:txBody>
      </p:sp>
      <p:sp>
        <p:nvSpPr>
          <p:cNvPr id="26" name="Oval 25"/>
          <p:cNvSpPr/>
          <p:nvPr/>
        </p:nvSpPr>
        <p:spPr>
          <a:xfrm>
            <a:off x="11055096" y="1709928"/>
            <a:ext cx="420624" cy="420624"/>
          </a:xfrm>
          <a:prstGeom prst="ellipse">
            <a:avLst/>
          </a:prstGeom>
          <a:solidFill>
            <a:srgbClr val="07111F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55096" y="180136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30449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[MEMBER 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3" y="33558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Cybersecurity &amp; Crypto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977639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3977639"/>
            <a:ext cx="3520440" cy="54864"/>
          </a:xfrm>
          <a:prstGeom prst="round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33372" y="4343400"/>
            <a:ext cx="1133856" cy="1133856"/>
          </a:xfrm>
          <a:prstGeom prst="ellipse">
            <a:avLst/>
          </a:prstGeom>
          <a:solidFill>
            <a:srgbClr val="10243A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33372" y="469087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[PHOTO]</a:t>
            </a:r>
          </a:p>
        </p:txBody>
      </p:sp>
      <p:sp>
        <p:nvSpPr>
          <p:cNvPr id="34" name="Oval 33"/>
          <p:cNvSpPr/>
          <p:nvPr/>
        </p:nvSpPr>
        <p:spPr>
          <a:xfrm>
            <a:off x="3593591" y="4270248"/>
            <a:ext cx="420624" cy="420624"/>
          </a:xfrm>
          <a:prstGeom prst="ellipse">
            <a:avLst/>
          </a:prstGeom>
          <a:solidFill>
            <a:srgbClr val="07111F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3591" y="436168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60527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[MEMBER 4]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591616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UI/UX &amp; Frontend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0832" y="3977639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70832" y="3977639"/>
            <a:ext cx="3520440" cy="54864"/>
          </a:xfrm>
          <a:prstGeom prst="round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64124" y="4343400"/>
            <a:ext cx="1133856" cy="1133856"/>
          </a:xfrm>
          <a:prstGeom prst="ellipse">
            <a:avLst/>
          </a:prstGeom>
          <a:solidFill>
            <a:srgbClr val="10243A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64124" y="469087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[PHOTO]</a:t>
            </a:r>
          </a:p>
        </p:txBody>
      </p:sp>
      <p:sp>
        <p:nvSpPr>
          <p:cNvPr id="42" name="Oval 41"/>
          <p:cNvSpPr/>
          <p:nvPr/>
        </p:nvSpPr>
        <p:spPr>
          <a:xfrm>
            <a:off x="7324344" y="4270248"/>
            <a:ext cx="420624" cy="420624"/>
          </a:xfrm>
          <a:prstGeom prst="ellipse">
            <a:avLst/>
          </a:prstGeom>
          <a:solidFill>
            <a:srgbClr val="07111F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24344" y="436168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560527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[MEMBER 5]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591616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Database &amp; Cloud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3" y="3977639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01583" y="3977639"/>
            <a:ext cx="3520440" cy="54864"/>
          </a:xfrm>
          <a:prstGeom prst="round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94876" y="4343400"/>
            <a:ext cx="1133856" cy="1133856"/>
          </a:xfrm>
          <a:prstGeom prst="ellipse">
            <a:avLst/>
          </a:prstGeom>
          <a:solidFill>
            <a:srgbClr val="10243A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4876" y="469087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[PHOTO]</a:t>
            </a:r>
          </a:p>
        </p:txBody>
      </p:sp>
      <p:sp>
        <p:nvSpPr>
          <p:cNvPr id="50" name="Oval 49"/>
          <p:cNvSpPr/>
          <p:nvPr/>
        </p:nvSpPr>
        <p:spPr>
          <a:xfrm>
            <a:off x="11055096" y="4270248"/>
            <a:ext cx="420624" cy="420624"/>
          </a:xfrm>
          <a:prstGeom prst="ellipse">
            <a:avLst/>
          </a:prstGeom>
          <a:solidFill>
            <a:srgbClr val="07111F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55096" y="436168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4463" y="560527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[MEMBER 6]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4463" y="591616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Business &amp; Presentation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 Has Scaled. Fraud Has Evolved.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417320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171+</a:t>
            </a:r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UPI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417320"/>
            <a:ext cx="64008" cy="1417320"/>
          </a:xfrm>
          <a:prstGeom prst="rect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58191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₹241</a:t>
            </a:r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Lakh Crore+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3500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Transaction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7376" y="1417320"/>
            <a:ext cx="64008" cy="1417320"/>
          </a:xfrm>
          <a:prstGeom prst="rect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5976" y="158191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B5FE"/>
                </a:solidFill>
                <a:latin typeface="Inter"/>
                <a:ea typeface="Inter"/>
                <a:cs typeface="Inter"/>
              </a:rPr>
              <a:t>385+</a:t>
            </a:r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23500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Banks Live on UPI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36024" y="1417320"/>
            <a:ext cx="64008" cy="141732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64624" y="158191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B84D"/>
                </a:solidFill>
                <a:latin typeface="Inter"/>
                <a:ea typeface="Inter"/>
                <a:cs typeface="Inter"/>
              </a:rPr>
              <a:t>81%</a:t>
            </a:r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23500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Retail Digital Payment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 spc="150">
                <a:solidFill>
                  <a:srgbClr val="FFB84D"/>
                </a:solidFill>
                <a:latin typeface="Inter"/>
                <a:ea typeface="Inter"/>
                <a:cs typeface="Inter"/>
              </a:rPr>
              <a:t>THE SECURITY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66160"/>
            <a:ext cx="5029200" cy="1417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216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A8B3C2"/>
                </a:solidFill>
                <a:latin typeface="Inter"/>
                <a:ea typeface="Inter"/>
                <a:cs typeface="Inter"/>
              </a:rPr>
              <a:t>CURRENT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5079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 </a:t>
            </a:r>
            <a:r>
              <a:rPr sz="15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0507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 </a:t>
            </a:r>
            <a:r>
              <a:rPr sz="15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PIN / Knowledge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566160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221216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7216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FF5C5C"/>
                </a:solidFill>
                <a:latin typeface="Inter"/>
                <a:ea typeface="Inter"/>
                <a:cs typeface="Inter"/>
              </a:rPr>
              <a:t>MISSING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2336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Can the system identify a high-risk situation involving the legitimate user before authorization?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FF5C5C"/>
                </a:solidFill>
                <a:latin typeface="Inter"/>
                <a:ea typeface="Inter"/>
                <a:cs typeface="Inter"/>
              </a:rPr>
              <a:t>THREAT PATHWAY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69279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82472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SCAMMER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55263" y="5952744"/>
            <a:ext cx="146305" cy="0"/>
          </a:xfrm>
          <a:prstGeom prst="line">
            <a:avLst/>
          </a:prstGeom>
          <a:ln w="25400">
            <a:solidFill>
              <a:srgbClr val="FF5C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410712" y="5669279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0712" y="582472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USER UNDER DURESS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25896" y="5952744"/>
            <a:ext cx="146304" cy="0"/>
          </a:xfrm>
          <a:prstGeom prst="line">
            <a:avLst/>
          </a:prstGeom>
          <a:ln w="25400">
            <a:solidFill>
              <a:srgbClr val="FF5C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81344" y="5669279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1344" y="582472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PIN REQUESTED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96528" y="5952744"/>
            <a:ext cx="146304" cy="0"/>
          </a:xfrm>
          <a:prstGeom prst="line">
            <a:avLst/>
          </a:prstGeom>
          <a:ln w="25400">
            <a:solidFill>
              <a:srgbClr val="FF5C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951976" y="5669279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582472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FRAUD SUCCEEDS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The Vulnerability Is Human, Not Just Technical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673352"/>
            <a:ext cx="502920" cy="502920"/>
          </a:xfrm>
          <a:prstGeom prst="ellipse">
            <a:avLst/>
          </a:prstGeom>
          <a:solidFill>
            <a:srgbClr val="10243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916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INDIVIDUALS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Users tricked into
authorizing transfers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67328" y="1673352"/>
            <a:ext cx="502920" cy="502920"/>
          </a:xfrm>
          <a:prstGeom prst="ellipse">
            <a:avLst/>
          </a:prstGeom>
          <a:solidFill>
            <a:srgbClr val="10243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7647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6916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SENIOR CITIZENS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2860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Targeted scams and
coercion pressure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5976" y="1673352"/>
            <a:ext cx="502920" cy="502920"/>
          </a:xfrm>
          <a:prstGeom prst="ellipse">
            <a:avLst/>
          </a:prstGeom>
          <a:solidFill>
            <a:srgbClr val="10243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17647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16916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SMALL BUSINESSES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22860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Payment fraud hits
livelihoods directly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6024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64624" y="1673352"/>
            <a:ext cx="502920" cy="502920"/>
          </a:xfrm>
          <a:prstGeom prst="ellipse">
            <a:avLst/>
          </a:prstGeom>
          <a:solidFill>
            <a:srgbClr val="10243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17647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704" y="16916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RURAL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22860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Growing digital trust,
limited safeguards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1546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3375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A8B3C2"/>
                </a:solidFill>
                <a:latin typeface="Inter"/>
                <a:ea typeface="Inter"/>
                <a:cs typeface="Inter"/>
              </a:rPr>
              <a:t>TRADITIONAL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2160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Transaction</a:t>
            </a:r>
            <a:r>
              <a:rPr sz="15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5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Authentication</a:t>
            </a:r>
            <a:r>
              <a:rPr sz="15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5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Payment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1546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9050">
            <a:solidFill>
              <a:srgbClr val="38D9FF"/>
            </a:solidFill>
          </a:ln>
          <a:effectLst/>
          <a:effectLst>
            <a:outerShdw blurRad="90000" dist="40000" dir="5400000" rotWithShape="0">
              <a:srgbClr val="19B5F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375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38D9FF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2160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Behavior</a:t>
            </a:r>
            <a:r>
              <a:rPr sz="1500" b="0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5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Risk Assessment</a:t>
            </a:r>
            <a:r>
              <a:rPr sz="1500" b="0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5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Authorization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66344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0E2A22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00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spc="200">
                <a:solidFill>
                  <a:srgbClr val="27D17F"/>
                </a:solidFill>
                <a:latin typeface="Inter"/>
                <a:ea typeface="Inter"/>
                <a:cs typeface="Inter"/>
              </a:rPr>
              <a:t>PRE-AUTHORIZATION BEHAVIORAL RISK 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19B5FE"/>
                </a:solidFill>
                <a:latin typeface="Inter"/>
                <a:ea typeface="Inter"/>
                <a:cs typeface="Inter"/>
              </a:rPr>
              <a:t>GOVERNMENT ALIGNMENT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52160"/>
            <a:ext cx="1613916" cy="4572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971032"/>
            <a:ext cx="16139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✓  Digital India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36876" y="5852160"/>
            <a:ext cx="2574036" cy="4572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36876" y="5971032"/>
            <a:ext cx="25740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✓  Secure Digital Payments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93792" y="5852160"/>
            <a:ext cx="1997964" cy="4572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93792" y="5971032"/>
            <a:ext cx="19979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✓  Privacy-by-Design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SentinelUPI: A Security Layer Around UPI</a:t>
            </a:r>
          </a:p>
        </p:txBody>
      </p:sp>
      <p:sp>
        <p:nvSpPr>
          <p:cNvPr id="6" name="Freeform 5"/>
          <p:cNvSpPr/>
          <p:nvPr/>
        </p:nvSpPr>
        <p:spPr>
          <a:xfrm>
            <a:off x="4267047" y="1600200"/>
            <a:ext cx="3657600" cy="4160520"/>
          </a:xfrm>
          <a:custGeom>
            <a:avLst/>
            <a:gdLst/>
            <a:ahLst/>
            <a:cxnLst/>
            <a:rect l="l" t="t" r="r" b="b"/>
            <a:pathLst>
              <a:path w="3657600" h="4160520">
                <a:moveTo>
                  <a:pt x="1828800" y="0"/>
                </a:moveTo>
                <a:lnTo>
                  <a:pt x="3657600" y="748893"/>
                </a:lnTo>
                <a:lnTo>
                  <a:pt x="3657600" y="2288285"/>
                </a:lnTo>
                <a:lnTo>
                  <a:pt x="1828800" y="4160520"/>
                </a:lnTo>
                <a:lnTo>
                  <a:pt x="0" y="2288285"/>
                </a:lnTo>
                <a:lnTo>
                  <a:pt x="0" y="748893"/>
                </a:lnTo>
                <a:lnTo>
                  <a:pt x="1828800" y="0"/>
                </a:lnTo>
                <a:close/>
              </a:path>
            </a:pathLst>
          </a:custGeom>
          <a:solidFill>
            <a:srgbClr val="081A2B">
              <a:alpha val="70000"/>
            </a:srgbClr>
          </a:solidFill>
          <a:ln w="254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047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SENTINELUPI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58587" y="2331720"/>
            <a:ext cx="1874519" cy="33832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22225">
            <a:solidFill>
              <a:srgbClr val="38D9FF"/>
            </a:solidFill>
          </a:ln>
          <a:effectLst/>
          <a:effectLst>
            <a:outerShdw blurRad="90000" dist="40000" dir="5400000" rotWithShape="0">
              <a:srgbClr val="19B5F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3239" y="2450591"/>
            <a:ext cx="585216" cy="128016"/>
          </a:xfrm>
          <a:prstGeom prst="round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8587" y="338328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200">
                <a:solidFill>
                  <a:srgbClr val="A8B3C2"/>
                </a:solidFill>
                <a:latin typeface="Inter"/>
                <a:ea typeface="Inter"/>
                <a:cs typeface="Inter"/>
              </a:rPr>
              <a:t>EXISTING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8587" y="365760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92927" y="420624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0A1626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2927" y="43616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₹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4327" y="4937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UPI PIN flow unchanged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4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1" y="2350008"/>
            <a:ext cx="457200" cy="457200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45059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3134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Continuous Behavioral
Authentication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30397" y="2583180"/>
            <a:ext cx="4783907" cy="1908312"/>
          </a:xfrm>
          <a:prstGeom prst="line">
            <a:avLst/>
          </a:prstGeom>
          <a:ln w="15875">
            <a:solidFill>
              <a:srgbClr val="38D9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43484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4636007"/>
            <a:ext cx="457200" cy="457200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473659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99431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Device Integrity
Verification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255807" y="3420400"/>
            <a:ext cx="4797050" cy="1448779"/>
          </a:xfrm>
          <a:prstGeom prst="line">
            <a:avLst/>
          </a:prstGeom>
          <a:ln w="15875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98280" y="182880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2872" y="2029968"/>
            <a:ext cx="457200" cy="457200"/>
          </a:xfrm>
          <a:prstGeom prst="ellipse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2130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99339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AI Risk Engine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212244" y="2263140"/>
            <a:ext cx="4970450" cy="2329386"/>
          </a:xfrm>
          <a:prstGeom prst="line">
            <a:avLst/>
          </a:prstGeom>
          <a:ln w="15875">
            <a:solidFill>
              <a:srgbClr val="27D17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98280" y="365760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62872" y="3858768"/>
            <a:ext cx="457200" cy="457200"/>
          </a:xfrm>
          <a:prstGeom prst="ellipse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39593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822191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Android Keystore +
Play Integrity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4086436" y="3790685"/>
            <a:ext cx="5013339" cy="301254"/>
          </a:xfrm>
          <a:prstGeom prst="line">
            <a:avLst/>
          </a:prstGeom>
          <a:ln w="15875">
            <a:solidFill>
              <a:srgbClr val="FFB84D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651760" y="553212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16352" y="5733288"/>
            <a:ext cx="457200" cy="457200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6352" y="58338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69671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Privacy-by-Design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923613" y="2476641"/>
            <a:ext cx="2607505" cy="3489818"/>
          </a:xfrm>
          <a:prstGeom prst="line">
            <a:avLst/>
          </a:prstGeom>
          <a:ln w="15875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86600" y="553212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51192" y="5733288"/>
            <a:ext cx="457200" cy="457200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51192" y="58338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69671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Explainable Risk Score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4599065" y="2542138"/>
            <a:ext cx="2826899" cy="3424321"/>
          </a:xfrm>
          <a:prstGeom prst="line">
            <a:avLst/>
          </a:prstGeom>
          <a:ln w="15875">
            <a:solidFill>
              <a:srgbClr val="38D9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THE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From Authentication to Continuous Risk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502920"/>
          </a:xfrm>
          <a:prstGeom prst="roundRect">
            <a:avLst>
              <a:gd name="adj" fmla="val 6000"/>
            </a:avLst>
          </a:prstGeom>
          <a:solidFill>
            <a:srgbClr val="221216"/>
          </a:solidFill>
          <a:ln w="1270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1417320"/>
            <a:ext cx="3474720" cy="502920"/>
          </a:xfrm>
          <a:prstGeom prst="roundRect">
            <a:avLst>
              <a:gd name="adj" fmla="val 6000"/>
            </a:avLst>
          </a:prstGeom>
          <a:solidFill>
            <a:srgbClr val="0E2A22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TRADITIONAL UPI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965960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39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1305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PIN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39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305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Behavioral Authentication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69464"/>
            <a:ext cx="3474720" cy="603504"/>
          </a:xfrm>
          <a:prstGeom prst="rect">
            <a:avLst/>
          </a:prstGeom>
          <a:solidFill>
            <a:srgbClr val="0A1829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2569464"/>
            <a:ext cx="3474720" cy="603504"/>
          </a:xfrm>
          <a:prstGeom prst="rect">
            <a:avLst/>
          </a:prstGeom>
          <a:solidFill>
            <a:srgbClr val="0A1829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273405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Device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3405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Device + User Risk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72968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172968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34670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33375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Post-Transaction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34670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3375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Pre-Authorization Risk Evaluation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76472"/>
            <a:ext cx="3474720" cy="603504"/>
          </a:xfrm>
          <a:prstGeom prst="rect">
            <a:avLst/>
          </a:prstGeom>
          <a:solidFill>
            <a:srgbClr val="0A1829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3776472"/>
            <a:ext cx="3474720" cy="603504"/>
          </a:xfrm>
          <a:prstGeom prst="rect">
            <a:avLst/>
          </a:prstGeom>
          <a:solidFill>
            <a:srgbClr val="0A1829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9502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19" y="3941063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App-Specific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9502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941063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Reusable SDK for PSPs/Banks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379976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4379976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5537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19" y="454456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Fixed Security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5537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54456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Adaptive AI Risk Assessment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141732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9050">
            <a:solidFill>
              <a:srgbClr val="38D9FF"/>
            </a:solidFill>
          </a:ln>
          <a:effectLst/>
          <a:effectLst>
            <a:outerShdw blurRad="90000" dist="40000" dir="5400000" rotWithShape="0">
              <a:srgbClr val="19B5F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16276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00">
                <a:solidFill>
                  <a:srgbClr val="38D9FF"/>
                </a:solidFill>
                <a:latin typeface="Inter"/>
                <a:ea typeface="Inter"/>
                <a:cs typeface="Inter"/>
              </a:rPr>
              <a:t>POSITIONING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1993392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F5F7FA"/>
                </a:solidFill>
                <a:latin typeface="Inter"/>
                <a:ea typeface="Inter"/>
                <a:cs typeface="Inter"/>
              </a:rPr>
              <a:t>“SentinelUPI is not another UPI app. It is a reusable security capability for the UPI ecosystem.”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9776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00">
                <a:solidFill>
                  <a:srgbClr val="A8B3C2"/>
                </a:solidFill>
                <a:latin typeface="Inter"/>
                <a:ea typeface="Inter"/>
                <a:cs typeface="Inter"/>
              </a:rPr>
              <a:t>ONE SDK • ENTIRE ECOSYSTEM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4343400"/>
            <a:ext cx="1828800" cy="594360"/>
          </a:xfrm>
          <a:prstGeom prst="roundRect">
            <a:avLst>
              <a:gd name="adj" fmla="val 12000"/>
            </a:avLst>
          </a:prstGeom>
          <a:solidFill>
            <a:srgbClr val="38D9FF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449884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SENTINELUPI SDK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51663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531266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BANK 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19" y="51663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19" y="531266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BANK 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5833872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598017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PSP 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46919" y="5833872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6919" y="598017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FINTECH D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8709660" y="4937760"/>
            <a:ext cx="982980" cy="228600"/>
          </a:xfrm>
          <a:prstGeom prst="line">
            <a:avLst/>
          </a:prstGeom>
          <a:ln w="12700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692640" y="4937760"/>
            <a:ext cx="800100" cy="228600"/>
          </a:xfrm>
          <a:prstGeom prst="line">
            <a:avLst/>
          </a:prstGeom>
          <a:ln w="12700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8709660" y="4937760"/>
            <a:ext cx="982980" cy="228600"/>
          </a:xfrm>
          <a:prstGeom prst="line">
            <a:avLst/>
          </a:prstGeom>
          <a:ln w="12700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92640" y="4937760"/>
            <a:ext cx="800100" cy="228600"/>
          </a:xfrm>
          <a:prstGeom prst="line">
            <a:avLst/>
          </a:prstGeom>
          <a:ln w="12700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Built for Secure, Low-Latency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3154680" cy="54864"/>
          </a:xfrm>
          <a:prstGeom prst="rect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19B5FE"/>
                </a:solidFill>
                <a:latin typeface="Inter"/>
                <a:ea typeface="Inter"/>
                <a:cs typeface="Inter"/>
              </a:rPr>
              <a:t>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67128"/>
            <a:ext cx="109728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Android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167128"/>
            <a:ext cx="100584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258568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Kotlin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50876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508760"/>
            <a:ext cx="3154680" cy="54864"/>
          </a:xfrm>
          <a:prstGeom prst="rect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0992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27D17F"/>
                </a:solidFill>
                <a:latin typeface="Inter"/>
                <a:ea typeface="Inter"/>
                <a:cs typeface="Inter"/>
              </a:rPr>
              <a:t>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167128"/>
            <a:ext cx="18288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258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TensorFlow 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50876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508760"/>
            <a:ext cx="3154680" cy="54864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70992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2167128"/>
            <a:ext cx="64008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258568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Go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19" y="2167128"/>
            <a:ext cx="82296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225856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Rust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703320"/>
            <a:ext cx="3154680" cy="54864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04487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DATABASE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361688"/>
            <a:ext cx="13716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5312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PostgreSQL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39" y="4361688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39" y="4453127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Redis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370332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3703320"/>
            <a:ext cx="3154680" cy="54864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904487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FFB84D"/>
                </a:solidFill>
                <a:latin typeface="Inter"/>
                <a:ea typeface="Inter"/>
                <a:cs typeface="Inter"/>
              </a:rPr>
              <a:t>SECURITY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4361688"/>
            <a:ext cx="192024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4453127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Android Keystore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4864607"/>
            <a:ext cx="173736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4956047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Play Integrity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5367527"/>
            <a:ext cx="109728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5458967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TLS 1.3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5367527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5458967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ECDSA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370332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2480" y="3703320"/>
            <a:ext cx="3154680" cy="54864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904487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INFRASTRUCTURE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1080" y="4361688"/>
            <a:ext cx="100584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4453127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Docker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4361688"/>
            <a:ext cx="13716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445312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Kubernetes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794760" y="2487168"/>
            <a:ext cx="731520" cy="0"/>
          </a:xfrm>
          <a:prstGeom prst="line">
            <a:avLst/>
          </a:prstGeom>
          <a:ln w="25400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80960" y="2487168"/>
            <a:ext cx="731520" cy="0"/>
          </a:xfrm>
          <a:prstGeom prst="line">
            <a:avLst/>
          </a:prstGeom>
          <a:ln w="25400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40080" y="589788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0E2A22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6053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27D17F"/>
                </a:solidFill>
                <a:latin typeface="Inter"/>
                <a:ea typeface="Inter"/>
                <a:cs typeface="Inter"/>
              </a:rPr>
              <a:t>DESIGN GOAL   </a:t>
            </a:r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On-device inference + low latency = zero noticeable UPI lag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How SentinelUPI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943600" cy="4297680"/>
          </a:xfrm>
          <a:prstGeom prst="roundRect">
            <a:avLst>
              <a:gd name="adj" fmla="val 4000"/>
            </a:avLst>
          </a:prstGeom>
          <a:solidFill>
            <a:srgbClr val="0A1E1C"/>
          </a:solidFill>
          <a:ln w="1905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27D17F"/>
                </a:solidFill>
                <a:latin typeface="Inter"/>
                <a:ea typeface="Inter"/>
                <a:cs typeface="Inter"/>
              </a:rPr>
              <a:t>ON-DEVICE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373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Privacy-first • Local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554480"/>
            <a:ext cx="4709160" cy="4297680"/>
          </a:xfrm>
          <a:prstGeom prst="roundRect">
            <a:avLst>
              <a:gd name="adj" fmla="val 4000"/>
            </a:avLst>
          </a:prstGeom>
          <a:solidFill>
            <a:srgbClr val="0A182E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719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19B5FE"/>
                </a:solidFill>
                <a:latin typeface="Inter"/>
                <a:ea typeface="Inter"/>
                <a:cs typeface="Inter"/>
              </a:rPr>
              <a:t>BACKEND /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7373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83080"/>
            <a:ext cx="2103120" cy="548640"/>
          </a:xfrm>
          <a:prstGeom prst="roundRect">
            <a:avLst>
              <a:gd name="adj" fmla="val 8000"/>
            </a:avLst>
          </a:prstGeom>
          <a:solidFill>
            <a:srgbClr val="0A1626"/>
          </a:solidFill>
          <a:ln w="190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94767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19" y="269748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28620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SENTINEL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79" y="3200400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Touch behavior  •  Interaction patterns
Screen-sharing indicators  •  Root / device integrity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19" y="4160520"/>
            <a:ext cx="4846320" cy="123444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" y="43251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BEHAVIOR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79" y="4663440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TensorFlow Lite
On-device inference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1880" y="2331720"/>
            <a:ext cx="0" cy="365760"/>
          </a:xfrm>
          <a:prstGeom prst="line">
            <a:avLst/>
          </a:prstGeom>
          <a:ln w="25400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11880" y="3840480"/>
            <a:ext cx="0" cy="320040"/>
          </a:xfrm>
          <a:prstGeom prst="line">
            <a:avLst/>
          </a:prstGeom>
          <a:ln w="25400">
            <a:solidFill>
              <a:srgbClr val="27D1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23760" y="2103120"/>
            <a:ext cx="3886200" cy="100584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26771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RISK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06039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Backend API
Generates Risk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3832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54787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PSP / BANK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8862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Approve  •  Step-up  •  Block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57200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473659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 SWITCH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07492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NPCI Ecosystem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66860" y="3108960"/>
            <a:ext cx="0" cy="274320"/>
          </a:xfrm>
          <a:prstGeom prst="line">
            <a:avLst/>
          </a:prstGeom>
          <a:ln w="25400">
            <a:solidFill>
              <a:srgbClr val="19B5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66860" y="4297680"/>
            <a:ext cx="0" cy="274320"/>
          </a:xfrm>
          <a:prstGeom prst="line">
            <a:avLst/>
          </a:prstGeom>
          <a:ln w="25400">
            <a:solidFill>
              <a:srgbClr val="FFB8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537960" y="2606040"/>
            <a:ext cx="685800" cy="2148840"/>
          </a:xfrm>
          <a:prstGeom prst="line">
            <a:avLst/>
          </a:prstGeom>
          <a:ln w="25400">
            <a:solidFill>
              <a:srgbClr val="38D9F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92240" y="3657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risk signals (TLS 1.3)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BUSINESS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From SIH Prototype to Scalable Security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54864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D9FF"/>
                </a:solidFill>
                <a:latin typeface="Inter"/>
                <a:ea typeface="Inter"/>
                <a:cs typeface="Inter"/>
              </a:rP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B2B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50">
                <a:solidFill>
                  <a:srgbClr val="A8B3C2"/>
                </a:solidFill>
                <a:latin typeface="Inter"/>
                <a:ea typeface="Inter"/>
                <a:cs typeface="Inter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Banks  •  PSPs  •  FinTech Companies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50">
                <a:solidFill>
                  <a:srgbClr val="A8B3C2"/>
                </a:solidFill>
                <a:latin typeface="Inter"/>
                <a:ea typeface="Inter"/>
                <a:cs typeface="Inter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• SDK Licensing   • Annual Enterprise Support   • Security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17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9B5FE"/>
                </a:solidFill>
                <a:latin typeface="Inter"/>
                <a:ea typeface="Inter"/>
                <a:cs typeface="Inter"/>
              </a:rPr>
              <a:t>BUSINESS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37943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BANK / PSP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2093976"/>
            <a:ext cx="0" cy="73152"/>
          </a:xfrm>
          <a:prstGeom prst="line">
            <a:avLst/>
          </a:prstGeom>
          <a:ln w="19050">
            <a:solidFill>
              <a:srgbClr val="19B5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2167128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221992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LICENSE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478024"/>
            <a:ext cx="0" cy="73152"/>
          </a:xfrm>
          <a:prstGeom prst="line">
            <a:avLst/>
          </a:prstGeom>
          <a:ln w="19050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63640" y="2551176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4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SENTINELUPI SDK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0" y="2862072"/>
            <a:ext cx="0" cy="73152"/>
          </a:xfrm>
          <a:prstGeom prst="line">
            <a:avLst/>
          </a:prstGeom>
          <a:ln w="19050">
            <a:solidFill>
              <a:srgbClr val="27D1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3640" y="2935224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99008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 APP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9680" y="3246120"/>
            <a:ext cx="0" cy="73152"/>
          </a:xfrm>
          <a:prstGeom prst="line">
            <a:avLst/>
          </a:prstGeom>
          <a:ln w="19050">
            <a:solidFill>
              <a:srgbClr val="19B5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63640" y="3319272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37413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RISK ASSESSMENT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475720" y="3474720"/>
            <a:ext cx="228600" cy="0"/>
          </a:xfrm>
          <a:prstGeom prst="line">
            <a:avLst/>
          </a:prstGeom>
          <a:ln w="15875">
            <a:solidFill>
              <a:srgbClr val="38D9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704320" y="1938528"/>
            <a:ext cx="0" cy="1536192"/>
          </a:xfrm>
          <a:prstGeom prst="line">
            <a:avLst/>
          </a:prstGeom>
          <a:ln w="15875">
            <a:solidFill>
              <a:srgbClr val="38D9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1475720" y="1938528"/>
            <a:ext cx="228600" cy="0"/>
          </a:xfrm>
          <a:prstGeom prst="line">
            <a:avLst/>
          </a:prstGeom>
          <a:ln w="15875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698480" y="246888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renewal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FB84D"/>
                </a:solidFill>
                <a:latin typeface="Inter"/>
                <a:ea typeface="Inter"/>
                <a:cs typeface="Inter"/>
              </a:rPr>
              <a:t>ROADMAP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8680" y="5532120"/>
            <a:ext cx="10424160" cy="0"/>
          </a:xfrm>
          <a:prstGeom prst="line">
            <a:avLst/>
          </a:prstGeom>
          <a:ln w="38100">
            <a:solidFill>
              <a:srgbClr val="162A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8680" y="5532120"/>
            <a:ext cx="2606040" cy="0"/>
          </a:xfrm>
          <a:prstGeom prst="line">
            <a:avLst/>
          </a:prstGeom>
          <a:ln w="38100">
            <a:solidFill>
              <a:srgbClr val="38D9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58952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3815" y="5477256"/>
            <a:ext cx="109728" cy="109728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59" y="50292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SIH Prototype</a:t>
            </a:r>
          </a:p>
        </p:txBody>
      </p:sp>
      <p:sp>
        <p:nvSpPr>
          <p:cNvPr id="39" name="Oval 38"/>
          <p:cNvSpPr/>
          <p:nvPr/>
        </p:nvSpPr>
        <p:spPr>
          <a:xfrm>
            <a:off x="3364991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19856" y="5477256"/>
            <a:ext cx="109728" cy="109728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28900" y="5788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Security Validation</a:t>
            </a:r>
          </a:p>
        </p:txBody>
      </p:sp>
      <p:sp>
        <p:nvSpPr>
          <p:cNvPr id="42" name="Oval 41"/>
          <p:cNvSpPr/>
          <p:nvPr/>
        </p:nvSpPr>
        <p:spPr>
          <a:xfrm>
            <a:off x="5971032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4940" y="50292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Regulatory Review</a:t>
            </a:r>
          </a:p>
        </p:txBody>
      </p:sp>
      <p:sp>
        <p:nvSpPr>
          <p:cNvPr id="44" name="Oval 43"/>
          <p:cNvSpPr/>
          <p:nvPr/>
        </p:nvSpPr>
        <p:spPr>
          <a:xfrm>
            <a:off x="8577072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0979" y="5788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Pilot Launch</a:t>
            </a:r>
          </a:p>
        </p:txBody>
      </p:sp>
      <p:sp>
        <p:nvSpPr>
          <p:cNvPr id="46" name="Oval 45"/>
          <p:cNvSpPr/>
          <p:nvPr/>
        </p:nvSpPr>
        <p:spPr>
          <a:xfrm>
            <a:off x="11183112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47019" y="50292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Enterprise Deployment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-1828800"/>
            <a:ext cx="6400800" cy="6400800"/>
          </a:xfrm>
          <a:prstGeom prst="ellipse">
            <a:avLst/>
          </a:prstGeom>
          <a:solidFill>
            <a:srgbClr val="19B5F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4114800"/>
            <a:ext cx="4572000" cy="4572000"/>
          </a:xfrm>
          <a:prstGeom prst="ellipse">
            <a:avLst/>
          </a:prstGeom>
          <a:solidFill>
            <a:srgbClr val="38D9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50127" y="1463040"/>
            <a:ext cx="91440" cy="502920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148840"/>
            <a:ext cx="121916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247" y="3977639"/>
            <a:ext cx="2743200" cy="18288"/>
          </a:xfrm>
          <a:prstGeom prst="rect">
            <a:avLst/>
          </a:prstGeom>
          <a:solidFill>
            <a:srgbClr val="1E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9448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Making digital payments safer by understanding risk before authorization.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5349240"/>
            <a:ext cx="9265615" cy="105156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54681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38D9FF"/>
                </a:solidFill>
                <a:latin typeface="Inter"/>
                <a:ea typeface="Inter"/>
                <a:cs typeface="Inter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742432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NPCI UPI Product Statistics — npci.org.in/product/upi/product-statistics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5943600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PIB Digital Payments Growth — pib.gov.in/PressReleasePage.aspx?PRID=2240723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14476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RBI Annual Report 2024–25 — rbi.org.in/scripts/AnnualReportPublications.aspx?Id=1436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742432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Android Keystore — developer.android.com/privacy-and-security/keystore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943600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Google Play Integrity — developer.android.com/google/play/integrity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614476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OWASP Mobile Top 10 — owasp.org/www-project-mobile-top-10/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SentinelUPI  •  [TEAM NAME]  •  Smart India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